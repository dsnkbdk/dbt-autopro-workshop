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9"/>
    <p:restoredTop sz="94675"/>
  </p:normalViewPr>
  <p:slideViewPr>
    <p:cSldViewPr snapToGrid="0">
      <p:cViewPr varScale="1">
        <p:scale>
          <a:sx n="103" d="100"/>
          <a:sy n="103" d="100"/>
        </p:scale>
        <p:origin x="200" y="2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8723F-C846-35C3-07FB-222DFC75E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4C357-8026-C1B1-D8EA-6C800A4EA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2FE17-154A-36AF-F11D-8B3269E8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4414-48CE-094E-81A1-65806EA73FFE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A1424-08E3-3ED6-A2FF-7E7BD4F62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72ED2-2235-0F30-16E6-ED717223C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8933F-C161-544A-B3EA-A66015F1D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08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06E0-1064-97C1-A0A7-07870BC96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81B4D-558F-FE0A-163E-55D112B33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9B42F-D8FB-6F46-97CB-5BA5D952F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4414-48CE-094E-81A1-65806EA73FFE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A579A-98C7-43F7-6A55-1C420242F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F7034-0B37-044E-4422-1A3E15B8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8933F-C161-544A-B3EA-A66015F1D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28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0E795-99B1-052F-D6E1-68D05D58C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8EA90-4685-0572-0385-5C296E645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71FB1-D826-8F18-9D57-6AFD7EBF6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4414-48CE-094E-81A1-65806EA73FFE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FA969-FCD5-471E-B5EE-B86BF72A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72E91-B8F0-2D73-FA20-20ACA5C44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8933F-C161-544A-B3EA-A66015F1D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04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70A34-2319-3CE9-6DA2-54F129548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6DB6B-7FAA-CAC2-4469-2B3BDBA50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D4944-325C-F23C-8CFE-6E80DE8A1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274BE-C933-6BCC-1C0B-96913FAFB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4414-48CE-094E-81A1-65806EA73FFE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4522B-3C4F-464C-4274-24D539A46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5DFC2-83E3-7A36-3D51-975CD096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8933F-C161-544A-B3EA-A66015F1D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03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20EC2-229B-0202-ABC4-A25D49F5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82CBC-3A91-B7B2-9F82-47C53D635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9EB42-0418-3F7C-31B9-D5E2E7C53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3EF9B7-1039-BFC8-BA10-35AAD7522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A22827-CCEB-20E0-1013-1F0A67B34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BC4828-DE7C-C3B2-38CE-842498DF0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4414-48CE-094E-81A1-65806EA73FFE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C3BB79-91F4-2311-239E-412C7A31C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20D14C-FB75-4A08-EEBF-5C3893AA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8933F-C161-544A-B3EA-A66015F1D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50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978C-1DC2-3221-04C9-1636C8257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294C73-0428-CBDB-852B-DBD0F36D7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4414-48CE-094E-81A1-65806EA73FFE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8BF8A-E039-BE60-C845-C1C2867B8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3517BA-9ED3-BEA6-0030-F44EEFF2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8933F-C161-544A-B3EA-A66015F1D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8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866912-D35B-7C3A-28A1-93DFDC0FB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4414-48CE-094E-81A1-65806EA73FFE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F0F27-0CED-5571-4E11-BB4499BF4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737F7-D714-56EB-8301-BF72AED5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8933F-C161-544A-B3EA-A66015F1D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876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DA8F-C98D-C5CE-941E-CA08DF07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CB35A-A3D3-77FE-0975-26036F756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03850-5C7B-C95F-B0F7-BD3AF11E6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68C36-ACB8-0920-9F4A-35FCA2C4E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4414-48CE-094E-81A1-65806EA73FFE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9BEEC-5E8E-9C23-9AFF-BC5FF66A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6A196-6CDE-C687-22FA-8C312B52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8933F-C161-544A-B3EA-A66015F1D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35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DD407-EEE2-7BB1-D504-E19400B0C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DB4DB3-2366-F70A-75CE-24605B2A0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0A6E9-3336-1BDC-00EE-EFC6FA63D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DCFC0-2D1E-E6EA-EFF4-7284D9CD3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4414-48CE-094E-81A1-65806EA73FFE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301C6-7955-1223-84BC-2B44F10B8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4CEC1-70BA-897E-0B63-AB2CD7DD8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8933F-C161-544A-B3EA-A66015F1D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EF35-45AF-455E-2D7C-5707DD67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A6A21-C258-0EDD-0533-687262459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A72C-999A-BD8E-EE69-99BC6215E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4414-48CE-094E-81A1-65806EA73FFE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3FE9-A876-79B2-2792-78B581B6F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CBD32-A4FD-E2FC-415C-F6D863A32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8933F-C161-544A-B3EA-A66015F1D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72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485E40-233B-FC2F-F555-6B9D458D35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6BC00-6879-66A2-28A9-537C38E77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EFE3E-F2B4-4B4F-34E7-B592F86D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4414-48CE-094E-81A1-65806EA73FFE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E5D32-8DC8-A968-4B2A-8EBCE2046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C7F1C-195A-C9C5-02AC-E67A552AF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8933F-C161-544A-B3EA-A66015F1D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63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423928-319F-CC31-6F9A-FE001B000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8AF8B-7768-4F3F-F227-9C77889CD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94FCA-8218-8B23-5F0A-ED061E950A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34414-48CE-094E-81A1-65806EA73FFE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57A33-8E88-96F1-8B15-C2EEEF985A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B45AC-02AA-31D8-F389-DDA6C9F81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8933F-C161-544A-B3EA-A66015F1D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51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0355-4F9C-33AE-D5F2-FA2B964BBD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PRACTICAL ASSESSMENT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23CA72-B4AD-A7D0-A9F8-55AA83ED58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Tools: Azure, Snowflake, dbt</a:t>
            </a:r>
          </a:p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Author: Wennan Shi</a:t>
            </a:r>
          </a:p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Date: 13/Feb/2026</a:t>
            </a:r>
          </a:p>
        </p:txBody>
      </p:sp>
    </p:spTree>
    <p:extLst>
      <p:ext uri="{BB962C8B-B14F-4D97-AF65-F5344CB8AC3E}">
        <p14:creationId xmlns:p14="http://schemas.microsoft.com/office/powerpoint/2010/main" val="3147738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24DB4-D9FB-B04C-5AA2-B6930168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Problem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43A83-0CC3-08A9-5EEC-DA509A4932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Business Requirements: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Blank</a:t>
            </a:r>
          </a:p>
          <a:p>
            <a:endParaRPr lang="en-US" dirty="0"/>
          </a:p>
          <a:p>
            <a:r>
              <a:rPr lang="en-US" b="1" dirty="0">
                <a:solidFill>
                  <a:srgbClr val="7030A0"/>
                </a:solidFill>
              </a:rPr>
              <a:t>Data: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Blank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8220D-97CE-F411-4F74-680E847D76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Outcomes: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Data marts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BI Reporting</a:t>
            </a:r>
          </a:p>
          <a:p>
            <a:endParaRPr lang="en-US" dirty="0"/>
          </a:p>
          <a:p>
            <a:r>
              <a:rPr lang="en-US" b="1" dirty="0">
                <a:solidFill>
                  <a:srgbClr val="7030A0"/>
                </a:solidFill>
              </a:rPr>
              <a:t>Constraints: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Time limit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Realistic trade-offs</a:t>
            </a:r>
          </a:p>
        </p:txBody>
      </p:sp>
    </p:spTree>
    <p:extLst>
      <p:ext uri="{BB962C8B-B14F-4D97-AF65-F5344CB8AC3E}">
        <p14:creationId xmlns:p14="http://schemas.microsoft.com/office/powerpoint/2010/main" val="66735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8A8D37-93FF-44A8-DAAA-F64A40811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3800" y="600428"/>
            <a:ext cx="7920000" cy="5657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03108E-56EF-F87A-C245-CE8671662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238311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C8E6-16FE-7A5D-681F-F3785290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Design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9A5EB-F10E-0363-7495-8082EA981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Approach: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ELT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Medallion Architecture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Dimensional Modelling (Kimball)</a:t>
            </a:r>
          </a:p>
          <a:p>
            <a:r>
              <a:rPr lang="en-US" b="1" dirty="0">
                <a:solidFill>
                  <a:srgbClr val="7030A0"/>
                </a:solidFill>
              </a:rPr>
              <a:t>Why: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Big Data Friendly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BI-friendly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High Performance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Business Clarity</a:t>
            </a:r>
          </a:p>
          <a:p>
            <a:r>
              <a:rPr lang="en-US" b="1" dirty="0">
                <a:solidFill>
                  <a:srgbClr val="7030A0"/>
                </a:solidFill>
              </a:rPr>
              <a:t>Gold Layer: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Fact tables ()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Dimension tables ()</a:t>
            </a:r>
          </a:p>
        </p:txBody>
      </p:sp>
    </p:spTree>
    <p:extLst>
      <p:ext uri="{BB962C8B-B14F-4D97-AF65-F5344CB8AC3E}">
        <p14:creationId xmlns:p14="http://schemas.microsoft.com/office/powerpoint/2010/main" val="3102185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C527B-E1C2-8E6F-86F9-EE4ADBAA7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Trade-offs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FBEB1-884C-1657-C1F9-D00B349E2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Priority: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Clarity over completeness</a:t>
            </a:r>
          </a:p>
          <a:p>
            <a:r>
              <a:rPr lang="en-US" b="1" dirty="0">
                <a:solidFill>
                  <a:srgbClr val="7030A0"/>
                </a:solidFill>
              </a:rPr>
              <a:t>Simplified: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Limited depth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Limited orchestrated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Limited documentation</a:t>
            </a:r>
          </a:p>
          <a:p>
            <a:r>
              <a:rPr lang="en-US" b="1" dirty="0">
                <a:solidFill>
                  <a:srgbClr val="7030A0"/>
                </a:solidFill>
              </a:rPr>
              <a:t>Assumptions: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Frequency</a:t>
            </a:r>
            <a:r>
              <a:rPr lang="zh-CN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Daily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Data schema - Consistent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 slowly changing dimension</a:t>
            </a:r>
          </a:p>
        </p:txBody>
      </p:sp>
    </p:spTree>
    <p:extLst>
      <p:ext uri="{BB962C8B-B14F-4D97-AF65-F5344CB8AC3E}">
        <p14:creationId xmlns:p14="http://schemas.microsoft.com/office/powerpoint/2010/main" val="2675589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96786-7E71-B3FF-C8D8-0EB2F8D2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Data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37BDA-6CEA-FDCC-F064-4C5402AE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unique</a:t>
            </a:r>
          </a:p>
          <a:p>
            <a:r>
              <a:rPr lang="en-US" b="1" dirty="0">
                <a:solidFill>
                  <a:srgbClr val="7030A0"/>
                </a:solidFill>
              </a:rPr>
              <a:t>not_null</a:t>
            </a:r>
          </a:p>
          <a:p>
            <a:r>
              <a:rPr lang="en-US" b="1" dirty="0">
                <a:solidFill>
                  <a:srgbClr val="7030A0"/>
                </a:solidFill>
              </a:rPr>
              <a:t>duplicate</a:t>
            </a:r>
          </a:p>
          <a:p>
            <a:r>
              <a:rPr lang="en-US" b="1" dirty="0">
                <a:solidFill>
                  <a:srgbClr val="7030A0"/>
                </a:solidFill>
              </a:rPr>
              <a:t>freshness</a:t>
            </a:r>
          </a:p>
          <a:p>
            <a:r>
              <a:rPr lang="en-US" b="1" dirty="0" err="1">
                <a:solidFill>
                  <a:srgbClr val="7030A0"/>
                </a:solidFill>
              </a:rPr>
              <a:t>loaded_at_field</a:t>
            </a:r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181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5CF7-7AA8-6E94-5C2F-8D8BF344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Validation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FB5D8-31FF-8451-FBD2-B51FF83C5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Business Rules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Blank</a:t>
            </a:r>
          </a:p>
          <a:p>
            <a:r>
              <a:rPr lang="en-US" b="1" dirty="0">
                <a:solidFill>
                  <a:srgbClr val="7030A0"/>
                </a:solidFill>
              </a:rPr>
              <a:t>Model Rules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relationships (PK, FK)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accepted_values</a:t>
            </a:r>
          </a:p>
        </p:txBody>
      </p:sp>
    </p:spTree>
    <p:extLst>
      <p:ext uri="{BB962C8B-B14F-4D97-AF65-F5344CB8AC3E}">
        <p14:creationId xmlns:p14="http://schemas.microsoft.com/office/powerpoint/2010/main" val="2384554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FBC3-4651-16B4-E01A-C41D4C93C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Technical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AE06F-EB7A-7396-1C7C-1492F1AF3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Ingestion</a:t>
            </a:r>
          </a:p>
          <a:p>
            <a:r>
              <a:rPr lang="en-US" b="1" dirty="0">
                <a:solidFill>
                  <a:srgbClr val="7030A0"/>
                </a:solidFill>
              </a:rPr>
              <a:t>Staging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Cleaning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Standardization</a:t>
            </a:r>
          </a:p>
          <a:p>
            <a:r>
              <a:rPr lang="en-US" b="1" dirty="0">
                <a:solidFill>
                  <a:srgbClr val="7030A0"/>
                </a:solidFill>
              </a:rPr>
              <a:t>Intermediate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Modelling</a:t>
            </a:r>
          </a:p>
          <a:p>
            <a:r>
              <a:rPr lang="en-US" b="1" dirty="0">
                <a:solidFill>
                  <a:srgbClr val="7030A0"/>
                </a:solidFill>
              </a:rPr>
              <a:t>Marts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Dim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Fact</a:t>
            </a:r>
          </a:p>
          <a:p>
            <a:r>
              <a:rPr lang="en-US" b="1" dirty="0">
                <a:solidFill>
                  <a:srgbClr val="7030A0"/>
                </a:solidFill>
              </a:rPr>
              <a:t>Reporting</a:t>
            </a:r>
          </a:p>
          <a:p>
            <a:pPr lvl="1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Power BI / Tableau</a:t>
            </a:r>
          </a:p>
        </p:txBody>
      </p:sp>
    </p:spTree>
    <p:extLst>
      <p:ext uri="{BB962C8B-B14F-4D97-AF65-F5344CB8AC3E}">
        <p14:creationId xmlns:p14="http://schemas.microsoft.com/office/powerpoint/2010/main" val="4114487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4033A-9CB1-24BC-054F-25F904CE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Improvement</a:t>
            </a:r>
            <a:r>
              <a:rPr lang="zh-CN" altLang="en-US" b="1" dirty="0">
                <a:solidFill>
                  <a:srgbClr val="7030A0"/>
                </a:solidFill>
              </a:rPr>
              <a:t> </a:t>
            </a:r>
            <a:r>
              <a:rPr lang="en-US" altLang="zh-CN" b="1" dirty="0">
                <a:solidFill>
                  <a:srgbClr val="7030A0"/>
                </a:solidFill>
              </a:rPr>
              <a:t>&amp;</a:t>
            </a:r>
            <a:r>
              <a:rPr lang="zh-CN" altLang="en-US" b="1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30020-2778-FCE6-DFFD-20BB78E26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Permission Control</a:t>
            </a:r>
          </a:p>
          <a:p>
            <a:r>
              <a:rPr lang="en-US" b="1" dirty="0">
                <a:solidFill>
                  <a:srgbClr val="7030A0"/>
                </a:solidFill>
              </a:rPr>
              <a:t>Reusability</a:t>
            </a:r>
          </a:p>
          <a:p>
            <a:r>
              <a:rPr lang="en-US" b="1" dirty="0">
                <a:solidFill>
                  <a:srgbClr val="7030A0"/>
                </a:solidFill>
              </a:rPr>
              <a:t>Incremental Model</a:t>
            </a:r>
          </a:p>
          <a:p>
            <a:r>
              <a:rPr lang="en-US" b="1" dirty="0">
                <a:solidFill>
                  <a:srgbClr val="7030A0"/>
                </a:solidFill>
              </a:rPr>
              <a:t>SCD Type 2 (dbt snapshots)</a:t>
            </a:r>
          </a:p>
          <a:p>
            <a:r>
              <a:rPr lang="en-US" b="1" dirty="0">
                <a:solidFill>
                  <a:srgbClr val="7030A0"/>
                </a:solidFill>
              </a:rPr>
              <a:t>Compute &amp; cost considerations</a:t>
            </a:r>
          </a:p>
          <a:p>
            <a:r>
              <a:rPr lang="en-US" b="1" dirty="0">
                <a:solidFill>
                  <a:srgbClr val="7030A0"/>
                </a:solidFill>
              </a:rPr>
              <a:t>BI concurrency</a:t>
            </a:r>
          </a:p>
        </p:txBody>
      </p:sp>
    </p:spTree>
    <p:extLst>
      <p:ext uri="{BB962C8B-B14F-4D97-AF65-F5344CB8AC3E}">
        <p14:creationId xmlns:p14="http://schemas.microsoft.com/office/powerpoint/2010/main" val="2502761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51AD-43FA-5DE8-5A66-D8D777C1DB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Wrap-up &amp; Q&amp;A</a:t>
            </a:r>
          </a:p>
        </p:txBody>
      </p:sp>
    </p:spTree>
    <p:extLst>
      <p:ext uri="{BB962C8B-B14F-4D97-AF65-F5344CB8AC3E}">
        <p14:creationId xmlns:p14="http://schemas.microsoft.com/office/powerpoint/2010/main" val="2305600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171</Words>
  <Application>Microsoft Macintosh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PRACTICAL ASSESSMENT</vt:lpstr>
      <vt:lpstr>Problem Understanding</vt:lpstr>
      <vt:lpstr>Architecture</vt:lpstr>
      <vt:lpstr>Design Decisions</vt:lpstr>
      <vt:lpstr>Trade-offs</vt:lpstr>
      <vt:lpstr>Data Quality</vt:lpstr>
      <vt:lpstr>Validation Rules</vt:lpstr>
      <vt:lpstr>Technical Implementation</vt:lpstr>
      <vt:lpstr>Improvement &amp; Scalability</vt:lpstr>
      <vt:lpstr>Wrap-up &amp;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Wennan Shi</dc:creator>
  <cp:lastModifiedBy>Wennan Shi</cp:lastModifiedBy>
  <cp:revision>15</cp:revision>
  <dcterms:created xsi:type="dcterms:W3CDTF">2026-02-12T03:47:24Z</dcterms:created>
  <dcterms:modified xsi:type="dcterms:W3CDTF">2026-02-12T11:14:31Z</dcterms:modified>
</cp:coreProperties>
</file>